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5400" b="1">
                <a:solidFill>
                  <a:srgbClr val="F4F4F4"/>
                </a:solidFill>
                <a:latin typeface="Arial"/>
              </a:defRPr>
            </a:pPr>
            <a:r>
              <a:t>SENTINEX</a:t>
            </a:r>
          </a:p>
          <a:p>
            <a:pPr>
              <a:spcBef>
                <a:spcPts val="800"/>
              </a:spcBef>
              <a:defRPr sz="1700">
                <a:solidFill>
                  <a:srgbClr val="8D8D8D"/>
                </a:solidFill>
                <a:latin typeface="Arial"/>
              </a:defRPr>
            </a:pPr>
            <a:r>
              <a:t>Industrial Multimodal AI for Real-Time Risk Forecasting &amp; Adaptive Intervention on IBM LinuxONE</a:t>
            </a:r>
          </a:p>
          <a:p>
            <a:pPr>
              <a:spcBef>
                <a:spcPts val="2800"/>
              </a:spcBef>
              <a:defRPr sz="1200">
                <a:solidFill>
                  <a:srgbClr val="11D3F3"/>
                </a:solidFill>
                <a:latin typeface="Calibri"/>
              </a:defRPr>
            </a:pPr>
            <a:r>
              <a:t>Team NEUROBOTS  |  Architecture: IBM LinuxONE (s390x, Ubuntu 24.04 LTS)  |  Provenance: 3ab4e534d934ccd1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2377440" cy="5029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F4F4"/>
                </a:solidFill>
                <a:latin typeface="Arial"/>
              </a:defRPr>
            </a:pPr>
            <a:r>
              <a:t>Sub-15ms Latency (s390x)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303520"/>
            <a:ext cx="2377440" cy="5029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F4F4"/>
                </a:solidFill>
                <a:latin typeface="Arial"/>
              </a:defRPr>
            </a:pPr>
            <a:r>
              <a:t>Finite-Sample Conformal 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303520"/>
            <a:ext cx="2377440" cy="5029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8A3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F4F4"/>
                </a:solidFill>
                <a:latin typeface="Arial"/>
              </a:defRPr>
            </a:pPr>
            <a:r>
              <a:t>Cryptographic Audit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39" y="5303520"/>
            <a:ext cx="2377440" cy="502920"/>
          </a:xfrm>
          <a:prstGeom prst="roundRect">
            <a:avLst/>
          </a:prstGeom>
          <a:solidFill>
            <a:srgbClr val="262626"/>
          </a:solidFill>
          <a:ln w="19050">
            <a:solidFill>
              <a:srgbClr val="FF8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F4F4"/>
                </a:solidFill>
                <a:latin typeface="Arial"/>
              </a:defRPr>
            </a:pPr>
            <a:r>
              <a:t>EU AI Act &amp; GDPR Art. 9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The Critical Safety Gap: Alarm Fatigue vs. Fatal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45720"/>
          </a:xfrm>
          <a:prstGeom prst="rect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The False Alarm Trap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Static thresholding triggers spurious alerts from running, climbing stairs, or transit.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Over 90% of automated distress triggers are discarded as false alarms.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Consequence: Dangerous alarm fatigue leads responders to disable systems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4572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Passive Panic Button Failure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Commercial wearables require conscious manual button presses by the victim.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In acute cardiovascular crises, falls, assaults, or kinetic shocks, victims are incapacitated.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Critical pre-event escalation windows are completely missed.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91840" cy="4572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The Privacy &amp; Trust Barrier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Continuous biometric streaming to public clouds violates personal privacy.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Un-auditable black-box AI violates EU AI Act High-Risk and GDPR Article 9 mandates.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Lack of cryptographic provenance exposes organizations to severe legal 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Enterprise Architecture Flow: Wearable Edge to IBM LinuxONE Mainframe</a:t>
            </a:r>
          </a:p>
        </p:txBody>
      </p:sp>
      <p:pic>
        <p:nvPicPr>
          <p:cNvPr id="5" name="Picture 4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8229600" cy="4457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0" y="1280160"/>
            <a:ext cx="228600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280160"/>
            <a:ext cx="2286000" cy="45720"/>
          </a:xfrm>
          <a:prstGeom prst="rect">
            <a:avLst/>
          </a:prstGeom>
          <a:solidFill>
            <a:srgbClr val="11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417320"/>
            <a:ext cx="192024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Key Architecture Highlights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s390x Native Inference: 10.8ms end-to-end latency.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Dual-Engine Fusion: Unsupervised + Supervised consensus.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Guardrails: Hard fail-safe physical overrides.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Crypto Ledger: SHA-256 blocks per cycle.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Zero GPU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Comprehensive AI/ML Pipeline: 7 Executable Research Labs</a:t>
            </a:r>
          </a:p>
        </p:txBody>
      </p:sp>
      <p:pic>
        <p:nvPicPr>
          <p:cNvPr id="5" name="Picture 4" descr="lab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8229600" cy="4457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0" y="1280160"/>
            <a:ext cx="228600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1280160"/>
            <a:ext cx="2286000" cy="457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417320"/>
            <a:ext cx="192024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Verification Suite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All 7 labs fully executed on IBM LinuxONE.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JupyterLab active on port 8888.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Covers data engineering, conformal calibration, model zoos, explainability, decisioning, RAG &amp; MCP.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Deep Concept: Dual-Engine Consensus &amp; Finite-Sample Conformal Bounds</a:t>
            </a:r>
          </a:p>
        </p:txBody>
      </p:sp>
      <p:pic>
        <p:nvPicPr>
          <p:cNvPr id="5" name="Picture 4" descr="conformal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77240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280160"/>
            <a:ext cx="274320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1280160"/>
            <a:ext cx="274320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37744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Mathematical Rigor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Quantile Cutoff: q_hat = -0.0212 calibrated on holdout sets.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Finite-Sample Bound: P(False Alarm) &lt;= 0.05 guaranteed.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Conformal Interval: [R_low, R_high] calibrated dynamically.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Divergence Expansion: Widens up to 2.5x during zero-day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Telemetry Integrity: Real-Time Population Stability Index (PSI)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120640" cy="4572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Empirical Bayes Laplace-Smoothed PSI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Monitors sensor degradation across sliding windows (W = 100 observations).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Formula: PSI = sum( (P_actual - P_expected) * ln( P_actual / P_expected ) 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Laplace pseudocount (alpha = 1.0) eliminates zero-frequency instability.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Monitored Modalities: Gait Variance, Acoustic dB, Heart Rate.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Zero-Crash Fallback: Dynamically scales baseline if channels disconnect.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57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Drift States &amp; Automated Recalibration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STABLE (PSI &lt; 0.10): Telemetry Health 90-100%; full operational trust.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WARNING (0.10 &lt;= PSI &lt; 0.25): Health 60-89%; environmental domain shift, widens conformal bounds.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CRITICAL SHIFT (PSI &gt;= 0.25): Health 20-59%; triggers automated model recalibration alert.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Live Endpoint: GET /api/v1/industrial/drift-status.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Safety Philosophy: Deterministic Physical Guardrails &amp; GDPR Art. 9</a:t>
            </a:r>
          </a:p>
        </p:txBody>
      </p:sp>
      <p:pic>
        <p:nvPicPr>
          <p:cNvPr id="5" name="Picture 4" descr="guardrails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77240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280160"/>
            <a:ext cx="274320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1280160"/>
            <a:ext cx="2743200" cy="45720"/>
          </a:xfrm>
          <a:prstGeom prst="rect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37744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Zero Unprompted Dispatch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Physical Guardrails bypass statistical uncertainty during acute tachycardia (&gt;175) or shock (&gt;3.5).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Level 1: Subtle haptic check-in tap.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Level 2: Trusted family contact.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Zero unauthorized GPS broadcasting (GDPR Article 9 compliant).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Research Lab Walkthrough: Foundation to Explainability (Labs 01–04)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6888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03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01: Preprocessing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Multimodal alignment of HAR, PAMAP2 &amp; SMSD streams.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Streaming rolling z-score normalization.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100% test coverage matching batch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468880" cy="45720"/>
          </a:xfrm>
          <a:prstGeom prst="rect">
            <a:avLst/>
          </a:prstGeom>
          <a:solidFill>
            <a:srgbClr val="11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103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02: Conformal Calib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Isolation Forest non-conformity scoring.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Quantile cutoff q_hat = -0.0212 bounding false alarms.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Finite-sample mathematical safety guarantee.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468880" cy="4572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103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03: Model Zoo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Rigorous benchmark comparison: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Isolation Forest vs One-Class SVM vs Autoencoder vs HistGB.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F1-score: 0.941 | Latency: 5.4ms.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468880" cy="45720"/>
          </a:xfrm>
          <a:prstGeom prst="rect">
            <a:avLst/>
          </a:prstGeom>
          <a:solidFill>
            <a:srgbClr val="FF8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1031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04: Explainability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Deterministic Z-score feature attributions.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Zero LLM hallucinations in critical decision loop.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Auditable reasoning string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Research Lab Walkthrough: Decisioning, Agents &amp; MCP (Labs 05–07)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45720"/>
          </a:xfrm>
          <a:prstGeom prst="rect">
            <a:avLst/>
          </a:prstGeom>
          <a:solidFill>
            <a:srgbClr val="D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05: Decision Engine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Graduated intervention policy: Level 0 (Silent) -&gt; Level 1 (Check-in) -&gt; Level 2 (Contact).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Causal 3-Tick persistence filter eliminating single-frame anomalies.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Explicit affirmative user consent gating strictly enforcing GDPR Article 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457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06: Fine-Tuning &amp; Agent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Simulated 100B parameter LoRA fine-tuning scaling curves.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Local autonomous agent loop operating edge-to-mainframe inference.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Semantic RAG retrieval of standard operating procedures (SOPs) in sub-4ms.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91840" cy="45720"/>
          </a:xfrm>
          <a:prstGeom prst="rect">
            <a:avLst/>
          </a:prstGeom>
          <a:solidFill>
            <a:srgbClr val="11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Lab 07: MCP Integration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Model Context Protocol (MCP) JSON-RPC standard server implementation.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Exposes 4 enterprise safety tools: assess_telemetry, verify_audit_ledger, check_drift, retrieve_sop.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Interoperable with modern agentic AI orchestrators.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Why IBM LinuxONE (s390x)? The Enterprise Mainframe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9184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Sub-15ms Real-Time Inference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LinuxONE s390x architecture handles enterprise telemetry streams deterministically.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Achieved 10.8ms end-to-end cycle latency with zero GPU dependency.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Simultaneous multi-threading enables thousands of concurrent citizen telemetry feeds.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4572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Confidential Computing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Biometric, cardiac, and location data are highly sensitive Article 9 assets.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LinuxONE Secure Execution isolates workloads from untrusted infrastructure.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On-chip cryptographic hardware accelerates SHA-256 block ledger creation.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91840" cy="457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Five-Nines Availability (99.999%)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Public safety cannot tolerate cloud downtimes or reboot cycles.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LinuxONE delivers unmatched enterprise fault tolerance and continuous uptime.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Future-ready for on-chip IBM Telum AI accelerators and z/OS Machine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Cryptographic Audit Ledger: EU AI Act High-Risk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120640" cy="4572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Immutable SHA-256 Block Chaining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Every inference cycle is memorialized into a cryptographically linked block.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Block Payload: Cycle ID, Observation Hash, Prediction Vector Hash, Decision State, Consent Status, SOP Citations.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Hash Formula: Hash_n = SHA-256( Index || Timestamp || CycleID || PrevHash || Action || Level 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Strictly satisfies EU AI Act High-Risk AI System post-market monitoring and auditability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5720"/>
          </a:xfrm>
          <a:prstGeom prst="rect">
            <a:avLst/>
          </a:prstGeom>
          <a:solidFill>
            <a:srgbClr val="11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Real-Time Tamper Isolation &amp; Verification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Live Integrity Verification Endpoint: GET /api/v1/industrial/audit-ledger.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If an adversary alters any byte in any historical block, verify_chain_integrity() detects it immediately.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Pinpoints the exact corrupted block index in O(N) linear time.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Eliminates institutional liability by mathematically proving decision provenance.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Live Product Prototype: Real-Time Interactive Dashboard (Port 3000)</a:t>
            </a:r>
          </a:p>
        </p:txBody>
      </p:sp>
      <p:pic>
        <p:nvPicPr>
          <p:cNvPr id="5" name="Picture 4" descr="industrial_dashboard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4770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3840480" cy="45720"/>
          </a:xfrm>
          <a:prstGeom prst="rect">
            <a:avLst/>
          </a:prstGeom>
          <a:solidFill>
            <a:srgbClr val="11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Real-Time UI Capabilities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Connected live to FastAPI backend at port 8000.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Dual-Engine AI Intelligence Core Widget displays: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Conformal Bounds [R_low, R_high]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Unsupervised Anomaly Score &amp; Cutoff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Supervised HistGB Risk Percentage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Real-Time PSI Drift Health Score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Deterministic Guardrail Status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Interactive Scenario Player (Normal, Escalation, Distress).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Live Risk Trend Recharts visualization.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Live Prototype: Cryptographic Audit Modal &amp; Tamper Simulation</a:t>
            </a:r>
          </a:p>
        </p:txBody>
      </p:sp>
      <p:pic>
        <p:nvPicPr>
          <p:cNvPr id="5" name="Picture 4" descr="industrial_audit_ledger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47700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280160"/>
            <a:ext cx="3840480" cy="4572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Tamper-Evidence In Action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Judges can inspect live blocks directly in the browser.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Displays Cycle ID, Action, Escalation Level, and SHA-256 block hash.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One-Click 'Simulate Tamper' Button: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Demonstrates immediate corruption detection when block payload is modified.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One-Click 'Re-Verify Chain' Button: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Recalculates cryptographic hashes against LinuxONE backend and restores green badge.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D3F3"/>
                </a:solidFill>
                <a:latin typeface="Arial"/>
              </a:defRPr>
            </a:pPr>
            <a:r>
              <a:t>IBM Z DATATHON 2026 | REAL-TIME AI FOR CRITICAL DECISIONS</a:t>
            </a:r>
          </a:p>
          <a:p>
            <a:pPr>
              <a:defRPr sz="2100" b="1">
                <a:solidFill>
                  <a:srgbClr val="F4F4F4"/>
                </a:solidFill>
                <a:latin typeface="Arial"/>
              </a:defRPr>
            </a:pPr>
            <a:r>
              <a:t>Empirical Benchmarks (53/53 Passed) &amp; IBM Z Scaling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120640" cy="457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100% Passed Tests on s390x Mainframe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All 53 unit, integration, and stress tests passed in 2.16s.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Cycle Latency Breakdown on LinuxONE s390x: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Preprocessing &amp; Z-Score: 0.82 ms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Dual-Engine Inference: 5.41 ms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Deterministic Guardrail Check: 0.21 ms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Semantic SOP RAG Retrieval: 3.20 ms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  - SHA-256 Cryptographic Block Hash: 0.42 ms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Total End-to-End Latency: 10.84 ms (Target &lt; 20 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4572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4F4F4"/>
                </a:solidFill>
                <a:latin typeface="Arial"/>
              </a:defRPr>
            </a:pPr>
            <a:r>
              <a:t>Target Beneficiaries &amp; Scaling Roadmap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Lone Workers &amp; Field Engineers: Real-time kinetic &amp; cardiac protection.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Night-Shift Commuters: Discreet haptic check-ins with zero data leakage.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Elderly &amp; Healthcare Caregivers: Pre-event escalation detection.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Phase 1 (Delivered): Dual-Engine Core &amp; Audit Ledger on s390x.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Phase 2 (Q3 2026): Retraining via IBM Machine Learning for z/OS.</a:t>
            </a:r>
          </a:p>
          <a:p>
            <a:pPr>
              <a:spcBef>
                <a:spcPts val="300"/>
              </a:spcBef>
              <a:defRPr sz="1050">
                <a:solidFill>
                  <a:srgbClr val="8D8D8D"/>
                </a:solidFill>
                <a:latin typeface="Calibri"/>
              </a:defRPr>
            </a:pPr>
            <a:r>
              <a:t>• Phase 3 (Q4 2026): Microsecond inference via IBM Telum AI accelerators.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